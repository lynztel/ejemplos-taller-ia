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México</c:v>
                </c:pt>
              </c:strCache>
            </c:strRef>
          </c:tx>
          <c:spPr>
            <a:solidFill>
              <a:srgbClr val="E27B30"/>
            </a:solidFill>
            <a:ln>
              <a:solidFill>
                <a:srgbClr val="E27B30"/>
              </a:solidFill>
            </a:ln>
          </c:spPr>
          <c:cat>
            <c:strRef>
              <c:f>Sheet1!$A$2:$A$4</c:f>
              <c:strCache>
                <c:ptCount val="3"/>
                <c:pt idx="0">
                  <c:v>Matemáticas</c:v>
                </c:pt>
                <c:pt idx="1">
                  <c:v>Lectura</c:v>
                </c:pt>
                <c:pt idx="2">
                  <c:v>Ciencias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388</c:v>
                </c:pt>
                <c:pt idx="1">
                  <c:v>408</c:v>
                </c:pt>
                <c:pt idx="2">
                  <c:v>414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OCDE</c:v>
                </c:pt>
              </c:strCache>
            </c:strRef>
          </c:tx>
          <c:spPr>
            <a:solidFill>
              <a:srgbClr val="2369AA"/>
            </a:solidFill>
            <a:ln>
              <a:solidFill>
                <a:srgbClr val="2369AA"/>
              </a:solidFill>
            </a:ln>
          </c:spPr>
          <c:cat>
            <c:strRef>
              <c:f>Sheet1!$A$2:$A$4</c:f>
              <c:strCache>
                <c:ptCount val="3"/>
                <c:pt idx="0">
                  <c:v>Matemáticas</c:v>
                </c:pt>
                <c:pt idx="1">
                  <c:v>Lectura</c:v>
                </c:pt>
                <c:pt idx="2">
                  <c:v>Ciencias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463</c:v>
                </c:pt>
                <c:pt idx="1">
                  <c:v>461</c:v>
                </c:pt>
                <c:pt idx="2">
                  <c:v>482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Matemáticas</c:v>
                </c:pt>
              </c:strCache>
            </c:strRef>
          </c:tx>
          <c:spPr>
            <a:solidFill>
              <a:srgbClr val="E27B30"/>
            </a:solidFill>
            <a:ln>
              <a:solidFill>
                <a:srgbClr val="E27B30"/>
              </a:solidFill>
            </a:ln>
          </c:spPr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408</c:v>
                </c:pt>
                <c:pt idx="1">
                  <c:v>409</c:v>
                </c:pt>
                <c:pt idx="2">
                  <c:v>395</c:v>
                </c:pt>
                <c:pt idx="3">
                  <c:v>388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Lectura</c:v>
                </c:pt>
              </c:strCache>
            </c:strRef>
          </c:tx>
          <c:spPr>
            <a:solidFill>
              <a:srgbClr val="2369AA"/>
            </a:solidFill>
            <a:ln>
              <a:solidFill>
                <a:srgbClr val="2369AA"/>
              </a:solidFill>
            </a:ln>
          </c:spPr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423</c:v>
                </c:pt>
                <c:pt idx="1">
                  <c:v>420</c:v>
                </c:pt>
                <c:pt idx="2">
                  <c:v>415</c:v>
                </c:pt>
                <c:pt idx="3">
                  <c:v>408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Ciencias</c:v>
                </c:pt>
              </c:strCache>
            </c:strRef>
          </c:tx>
          <c:spPr>
            <a:solidFill>
              <a:srgbClr val="239191"/>
            </a:solidFill>
            <a:ln>
              <a:solidFill>
                <a:srgbClr val="239191"/>
              </a:solidFill>
            </a:ln>
          </c:spPr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2018</c:v>
                </c:pt>
                <c:pt idx="2">
                  <c:v>2022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416</c:v>
                </c:pt>
                <c:pt idx="1">
                  <c:v>419</c:v>
                </c:pt>
                <c:pt idx="2">
                  <c:v>410</c:v>
                </c:pt>
                <c:pt idx="3">
                  <c:v>414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México</c:v>
                </c:pt>
              </c:strCache>
            </c:strRef>
          </c:tx>
          <c:spPr>
            <a:solidFill>
              <a:srgbClr val="E27B30"/>
            </a:solidFill>
            <a:ln>
              <a:solidFill>
                <a:srgbClr val="E27B30"/>
              </a:solidFill>
            </a:ln>
          </c:spPr>
          <c:cat>
            <c:strRef>
              <c:f>Sheet1!$A$2:$A$4</c:f>
              <c:strCache>
                <c:ptCount val="3"/>
                <c:pt idx="0">
                  <c:v>Matemáticas</c:v>
                </c:pt>
                <c:pt idx="1">
                  <c:v>Lectura</c:v>
                </c:pt>
                <c:pt idx="2">
                  <c:v>Ciencias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OCDE</c:v>
                </c:pt>
              </c:strCache>
            </c:strRef>
          </c:tx>
          <c:spPr>
            <a:solidFill>
              <a:srgbClr val="2369AA"/>
            </a:solidFill>
            <a:ln>
              <a:solidFill>
                <a:srgbClr val="2369AA"/>
              </a:solidFill>
            </a:ln>
          </c:spPr>
          <c:cat>
            <c:strRef>
              <c:f>Sheet1!$A$2:$A$4</c:f>
              <c:strCache>
                <c:ptCount val="3"/>
                <c:pt idx="0">
                  <c:v>Matemáticas</c:v>
                </c:pt>
                <c:pt idx="1">
                  <c:v>Lectura</c:v>
                </c:pt>
                <c:pt idx="2">
                  <c:v>Ciencias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69</c:v>
                </c:pt>
                <c:pt idx="2">
                  <c:v>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Continuidad</c:v>
                </c:pt>
              </c:strCache>
            </c:strRef>
          </c:tx>
          <c:spPr>
            <a:solidFill>
              <a:srgbClr val="BE4343"/>
            </a:solidFill>
            <a:ln>
              <a:solidFill>
                <a:srgbClr val="BE4343"/>
              </a:solidFill>
            </a:ln>
          </c:spP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2030</c:v>
                </c:pt>
                <c:pt idx="2">
                  <c:v>2035</c:v>
                </c:pt>
                <c:pt idx="3">
                  <c:v>2040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101</c:v>
                </c:pt>
                <c:pt idx="2">
                  <c:v>101</c:v>
                </c:pt>
                <c:pt idx="3">
                  <c:v>102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Mejora gradual</c:v>
                </c:pt>
              </c:strCache>
            </c:strRef>
          </c:tx>
          <c:spPr>
            <a:solidFill>
              <a:srgbClr val="398258"/>
            </a:solidFill>
            <a:ln>
              <a:solidFill>
                <a:srgbClr val="398258"/>
              </a:solidFill>
            </a:ln>
          </c:spPr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2030</c:v>
                </c:pt>
                <c:pt idx="2">
                  <c:v>2035</c:v>
                </c:pt>
                <c:pt idx="3">
                  <c:v>2040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104</c:v>
                </c:pt>
                <c:pt idx="2">
                  <c:v>109</c:v>
                </c:pt>
                <c:pt idx="3">
                  <c:v>114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6A7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9BCDE2"/>
                </a:solidFill>
                <a:latin typeface="Aptos"/>
              </a:rPr>
              <a:t>PISA 2025 ·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241280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¿Qué precio económico
tiene aprender menos?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96012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E0E8F0"/>
                </a:solidFill>
                <a:latin typeface="Aptos"/>
              </a:rPr>
              <a:t>Resultados, interpretación y repercusiones a corto y mediano plazo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30368"/>
            <a:ext cx="530352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B4C5D4"/>
                </a:solidFill>
                <a:latin typeface="Aptos"/>
              </a:rPr>
              <a:t>Presentación académica · 10 de octubre de 2026</a:t>
            </a:r>
          </a:p>
        </p:txBody>
      </p:sp>
      <p:sp>
        <p:nvSpPr>
          <p:cNvPr id="6" name="Rectangle 5"/>
          <p:cNvSpPr/>
          <p:nvPr/>
        </p:nvSpPr>
        <p:spPr>
          <a:xfrm rot="720000">
            <a:off x="9784080" y="914400"/>
            <a:ext cx="1280160" cy="475488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2011680"/>
            <a:ext cx="1188720" cy="1645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388
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840480"/>
            <a:ext cx="1188720" cy="10972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México
2025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Una señal educativa con consecuencias productivas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PISA no mide el PIB; mide capacidades que condicionan el potencial de productividad futura.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74320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3152" cy="21031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23591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388 puntos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97480"/>
            <a:ext cx="2359152" cy="13258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México en matemáticas; 75 puntos por debajo del promedio OCDE.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57400"/>
            <a:ext cx="274320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057400"/>
            <a:ext cx="73152" cy="210312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2" y="2258568"/>
            <a:ext cx="23591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2697480"/>
            <a:ext cx="2359152" cy="13258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Alcanza al menos el nivel base en lectura y ciencias; en matemáticas, 30%.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57400"/>
            <a:ext cx="274320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057400"/>
            <a:ext cx="73152" cy="210312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258568"/>
            <a:ext cx="23591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68 puntos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697480"/>
            <a:ext cx="2359152" cy="13258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Brecha en ciencias entre el 25% más aventajado y el 25% más desfavorecido.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057400"/>
            <a:ext cx="196596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55480" y="2057400"/>
            <a:ext cx="73152" cy="21031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258568"/>
            <a:ext cx="15819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Horizonte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697480"/>
            <a:ext cx="1581912" cy="13258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Corto plazo: capacitación y empleabilidad.
Mediano plazo: innovación, productividad y movilidad.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10607040" cy="777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22B46"/>
                </a:solidFill>
                <a:latin typeface="Aptos"/>
              </a:rPr>
              <a:t>Tesis: la prioridad económica no es subir un ranking; es ampliar la base de jóvenes capaces de leer, modelar, resolver problemas y aprender durante toda la vida.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OECD, PISA 2025 Results (Volume I), Country Note: Mexico. Consulta: 10 oct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MARCO DE LECTURA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¿Qué mide PISA y qué no mide?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La edición 2025 evaluó a estudiantes de 15 años en 91 países y economías.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73152" cy="20574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58568"/>
            <a:ext cx="29535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Ciencias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2953512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Explicar fenómenos científicamente, evaluar evidencia y diseñar investigaciones.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3375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73152" cy="205740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58568"/>
            <a:ext cx="29535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Matemáticas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97480"/>
            <a:ext cx="2953512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Interpretar situaciones, modelar problemas y elegir estrategias.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57400"/>
            <a:ext cx="33375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57400"/>
            <a:ext cx="73152" cy="205740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258568"/>
            <a:ext cx="29535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697480"/>
            <a:ext cx="2953512" cy="1280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Comprender, evaluar y usar textos para aprender y decidir.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89204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PISA sí permite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489204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Comparar competencias, observar tendencias y detectar brechas de equidad.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57200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PISA no permite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457200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Atribuir por sí sola una causa política o calcular directamente el impacto en el PIB.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 (2026), PISA 2025 Results, Country Note: Mexico.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RESULTADOS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México se mantiene por debajo del promedio OCDE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La brecha es mayor en ciencias y matemáticas; los tres dominios están por debajo del promedio internacional.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96596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214884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2148840"/>
            <a:ext cx="73152" cy="109728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2350008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−75 puntos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788920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Brecha México–OCDE en matemáticas.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47472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474720"/>
            <a:ext cx="73152" cy="10972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675887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−68 puntos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114800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Brecha México–OCDE en ciencias.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80060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800600"/>
            <a:ext cx="73152" cy="109728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5001768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−53 puntos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5440680"/>
            <a:ext cx="31821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Brecha México–OCDE en lectura.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 (2026), PISA 2025 Results; Education GPS, Mexico.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TENDENCIA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El reto no comienza 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Matemáticas y lectura retroceden frente a 2022; ciencias permanece aproximadamente estable.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920240"/>
          <a:ext cx="66751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2148840"/>
            <a:ext cx="33832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2148840"/>
            <a:ext cx="73152" cy="128016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2350008"/>
            <a:ext cx="299923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Matemáticas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788920"/>
            <a:ext cx="2999232" cy="5029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−7 puntos vs. 2022; el nivel base alcanza solo a 30%.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657600"/>
            <a:ext cx="33832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3657600"/>
            <a:ext cx="73152" cy="128016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3858768"/>
            <a:ext cx="299923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Lectura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297680"/>
            <a:ext cx="2999232" cy="5029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−7 puntos vs. 2022; 50% llega al nivel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5166360"/>
            <a:ext cx="338328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5166360"/>
            <a:ext cx="73152" cy="8229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5367528"/>
            <a:ext cx="299923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Ciencias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806440"/>
            <a:ext cx="2999232" cy="457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+4 puntos vs. 2022; la OCDE lo describe como estable.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OECD, PISA 2025 Country Note: Mexico; serie histórica PISA 2015–2025.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COMPETENCIAS MÍNIMAS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La base de habilidades es estrecha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Porcentaje de estudiantes que alcanza al menos el nivel 2 de desempeño.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965960"/>
          <a:ext cx="65836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18120" y="2240280"/>
            <a:ext cx="333756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Nivel 2 = umbral de competencia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3063240"/>
            <a:ext cx="3337560" cy="2103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Debajo de este umbral, es más difícil interpretar información, tomar decisiones cuantitativas y aprender de manera autónoma en contextos nuevos.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440680"/>
            <a:ext cx="333756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BE4343"/>
                </a:solidFill>
                <a:latin typeface="Aptos"/>
              </a:rPr>
              <a:t>Casi no hay estudiantes mexicanos en niveles 5–6.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OECD, PISA 2025 Results (Volume I), Country Note: Mexico. Consulta: 10 oct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EQUIDAD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El promedio nacional oculta una brecha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La desventaja socioeconómica sigue asociada con menores resultados, aunque la brecha mexicana es menor que el promedio OCDE.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1089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73152" cy="182880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258568"/>
            <a:ext cx="27249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68 puntos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697480"/>
            <a:ext cx="2724912" cy="10515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Diferencia en ciencias entre el 25% más aventajado y el 25% más desfavorecido.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57400"/>
            <a:ext cx="31089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057400"/>
            <a:ext cx="73152" cy="182880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258568"/>
            <a:ext cx="27249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697480"/>
            <a:ext cx="2724912" cy="10515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Proporción de la variación en ciencias asociada al estatus socioeconómico.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31089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057400"/>
            <a:ext cx="73152" cy="182880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2" y="2258568"/>
            <a:ext cx="272491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2" y="2697480"/>
            <a:ext cx="2724912" cy="10515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De estudiantes desfavorecidos alcanzó el cuartil superior de desempeño en ciencias: resiliencia académica.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22B46"/>
                </a:solidFill>
                <a:latin typeface="Aptos"/>
              </a:rPr>
              <a:t>Implicación económica: si el origen predice demasiado el aprendizaje, se reduce la movilidad social y se desaprovecha talento productivo.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99669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5F6A75"/>
                </a:solidFill>
                <a:latin typeface="Aptos"/>
              </a:rPr>
              <a:t>La expansión de la cobertura puede incorporar a más jóvenes vulnerables; eso puede hacer que el promedio parezca más bajo sin que toda la caída sea pérdida de aprendizaje.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Fuente: OECD, PISA 2025 Results (Volume I), Country Note: Mexico. Consulta: 10 oct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INTERPRETACIÓN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De la habilidad escolar al desempeño productivo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El vínculo es un mecanismo plausible, no una causalidad directa demostrada por PISA.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377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560320"/>
            <a:ext cx="21488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2369AA"/>
                </a:solidFill>
                <a:latin typeface="Aptos"/>
              </a:rPr>
              <a:t>Aprendizaje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21031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Aptos"/>
              </a:rPr>
              <a:t>lectura · matemática · ciencia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651760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E27B3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331720"/>
            <a:ext cx="2377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2560320"/>
            <a:ext cx="21488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239191"/>
                </a:solidFill>
                <a:latin typeface="Aptos"/>
              </a:rPr>
              <a:t>Habilidades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999232"/>
            <a:ext cx="21031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Aptos"/>
              </a:rPr>
              <a:t>resolver · comunicar · aprender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51760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E27B3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331720"/>
            <a:ext cx="2377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27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560320"/>
            <a:ext cx="21488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E27B30"/>
                </a:solidFill>
                <a:latin typeface="Aptos"/>
              </a:rPr>
              <a:t>Mercado laboral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999232"/>
            <a:ext cx="21031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Aptos"/>
              </a:rPr>
              <a:t>empleabilidad · capacitación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651760"/>
            <a:ext cx="41148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E27B3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2331720"/>
            <a:ext cx="2377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39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1" y="2560320"/>
            <a:ext cx="21488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398258"/>
                </a:solidFill>
                <a:latin typeface="Aptos"/>
              </a:rPr>
              <a:t>Economía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999232"/>
            <a:ext cx="21031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232A32"/>
                </a:solidFill>
                <a:latin typeface="Aptos"/>
              </a:rPr>
              <a:t>productividad · innovación · ingresos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43400"/>
            <a:ext cx="4846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343400"/>
            <a:ext cx="73152" cy="114300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544568"/>
            <a:ext cx="446227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Corto plazo · 1–5 años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983480"/>
            <a:ext cx="4462272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Más gasto de nivelación y capacitación; transición escuela-trabajo menos eficiente.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343400"/>
            <a:ext cx="4846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343400"/>
            <a:ext cx="73152" cy="114300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544568"/>
            <a:ext cx="446227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Mediano plazo · 5–15 años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983480"/>
            <a:ext cx="4462272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Menor adopción tecnológica y menor oferta de talento para sectores sofisticados si la brecha persiste.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Interpretación: síntesis económica basada en mecanismos de capital humano; no es una estimación causal de PISA.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ESCENARIOS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El costo de no actuar es acumulativo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Índice ilustrativo de capacidad productiva futura — no es una proyección del PIB.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920240"/>
          <a:ext cx="66751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2194560"/>
            <a:ext cx="33832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2194560"/>
            <a:ext cx="73152" cy="132588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2395728"/>
            <a:ext cx="299923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Continuidad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834639"/>
            <a:ext cx="2999232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Persisten brechas básicas, costos de capacitación y menor movilidad.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749039"/>
            <a:ext cx="33832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3749039"/>
            <a:ext cx="73152" cy="1325880"/>
          </a:xfrm>
          <a:prstGeom prst="rect">
            <a:avLst/>
          </a:prstGeom>
          <a:solidFill>
            <a:srgbClr val="39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3950207"/>
            <a:ext cx="299923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Mejora gradual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389120"/>
            <a:ext cx="2999232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Fortalecer fundamentos, docentes y transición digital eleva el potencial, con rezagos iniciales.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394960"/>
            <a:ext cx="33832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122B46"/>
                </a:solidFill>
                <a:latin typeface="Aptos"/>
              </a:rPr>
              <a:t>La prioridad es cambiar la trayectoria, no perseguir un ranking.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Nota: escenarios conceptuales para comunicar mecanismos; no representan una predicción estadística.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AGENDA DE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Tres palancas para convertir diagnóstico en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Una respuesta económica debe combinar calidad, equidad y conexión con el trabajo.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73152" cy="233172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58568"/>
            <a:ext cx="30449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1 ·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3044952" cy="15544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Priorizar lectura, razonamiento matemático y ciencia desde los primeros años.
Medir aprendizaje real, no solo asistencia.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73152" cy="2331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258568"/>
            <a:ext cx="30449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2 · Docentes y escuelas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97480"/>
            <a:ext cx="3044952" cy="15544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Formación continua, acompañamiento pedagógico y materiales/infrastructura focalizados en las escuelas con mayor rezago.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57400"/>
            <a:ext cx="73152" cy="233172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258568"/>
            <a:ext cx="3044952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3 · Escuela–economía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697480"/>
            <a:ext cx="3044952" cy="155447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Habilidades digitales, resolución de problemas, orientación vocacional y vínculos con empresas y educación superior.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42416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122B46"/>
                </a:solidFill>
                <a:latin typeface="Aptos"/>
              </a:rPr>
              <a:t>Indicadores de seguimiento: nivel base, abandono, brechas regionales, inserción laboral, capacitación empresarial y productividad sectorial.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Recomendaciones: interpretación propia a partir de PISA 2025 y mecanismos de capital humano.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9BCDE2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42416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La educación es infraestructura económica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058400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E0E8F0"/>
                </a:solidFill>
                <a:latin typeface="Aptos"/>
              </a:rPr>
              <a:t>México necesita ampliar la base de competencias fundamentales y convertir la resiliencia de sus estudiantes en productividad, innovación y movilidad social.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86200"/>
            <a:ext cx="3063240" cy="1097280"/>
          </a:xfrm>
          <a:prstGeom prst="round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69080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Priorizar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407408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fundamentos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886200"/>
            <a:ext cx="3063240" cy="1097280"/>
          </a:xfrm>
          <a:prstGeom prst="round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069080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Focalizar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407408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donde la brecha es mayor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3886200"/>
            <a:ext cx="3063240" cy="1097280"/>
          </a:xfrm>
          <a:prstGeom prst="round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4069080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Evaluar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4407408"/>
            <a:ext cx="28803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resultados y efectos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>
                <a:solidFill>
                  <a:srgbClr val="B4C5D4"/>
                </a:solidFill>
                <a:latin typeface="Aptos"/>
              </a:rPr>
              <a:t>PISA muestra la señal; las políticas públicas deben construir la trayectoria.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2369AA"/>
                </a:solidFill>
                <a:latin typeface="Aptos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22B46"/>
                </a:solidFill>
                <a:latin typeface="Aptos"/>
              </a:rPr>
              <a:t>Fuentes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F6A75"/>
                </a:solidFill>
                <a:latin typeface="Aptos"/>
              </a:rPr>
              <a:t>Consulta: 10 de octubre de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05840" cy="45720"/>
          </a:xfrm>
          <a:prstGeom prst="rect">
            <a:avLst/>
          </a:prstGeom>
          <a:solidFill>
            <a:srgbClr val="E2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2412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232A32"/>
                </a:solidFill>
                <a:latin typeface="Aptos"/>
              </a:rPr>
              <a:t>1. OECD (2026). PISA 2025 Results (Volume I): Mexico — Country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2412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2. OECD (2026). Education GPS — Mexico: Student performance (PISA 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2412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3. OECD (2023). PISA 2022 Results (Volume I and II): Mexico — Country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2412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4. OECD (2026). PISA 2025 Results (Volume I): Future-Ready Students.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14984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2369AA"/>
                </a:solidFill>
                <a:latin typeface="Aptos"/>
              </a:rPr>
              <a:t>Enlaces:
www.oecd.org/en/publications/pisa-2025-results-volume-i-country-notes_2d4ff9ea-en/mexico_85702d30-en.html
gpseducation.oecd.org/CountryProfile?primaryCountry=MEX&amp;topic=PI&amp;treshold=10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750" b="0">
                <a:solidFill>
                  <a:srgbClr val="5F6A75"/>
                </a:solidFill>
                <a:latin typeface="Aptos"/>
              </a:rPr>
              <a:t>Elaboración propia con datos OECD/PISA; las interpretaciones económicas están señaladas como mecanismos o escenarios.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22860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0">
                <a:solidFill>
                  <a:srgbClr val="5F6A7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